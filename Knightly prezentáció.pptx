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10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media/image13.png" ContentType="image/png"/>
  <Override PartName="/ppt/media/image5.png" ContentType="image/png"/>
  <Override PartName="/ppt/media/image10.png" ContentType="image/png"/>
  <Override PartName="/ppt/media/image3.png" ContentType="image/png"/>
  <Override PartName="/ppt/media/image2.png" ContentType="image/png"/>
  <Override PartName="/ppt/media/image11.png" ContentType="image/png"/>
  <Override PartName="/ppt/media/image7.png" ContentType="image/png"/>
  <Override PartName="/ppt/media/image8.png" ContentType="image/png"/>
  <Override PartName="/ppt/media/image12.png" ContentType="image/png"/>
  <Override PartName="/ppt/media/image6.png" ContentType="image/png"/>
  <Override PartName="/ppt/media/image1.png" ContentType="image/png"/>
  <Override PartName="/ppt/media/image9.png" ContentType="image/png"/>
  <Override PartName="/ppt/media/image14.png" ContentType="image/png"/>
  <Override PartName="/ppt/media/image4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>
              <a:buNone/>
            </a:pPr>
            <a:r>
              <a:rPr b="0" lang="en-US" sz="5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5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hu" sz="1000" strike="noStrike" u="none">
                <a:solidFill>
                  <a:schemeClr val="lt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0CDFC62-CC43-444B-B19F-CA6E8C1F04C7}" type="slidenum">
              <a:rPr b="0" lang="hu" sz="1000" strike="noStrike" u="none">
                <a:solidFill>
                  <a:schemeClr val="lt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IG_NUMBE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311760" y="1106280"/>
            <a:ext cx="8520120" cy="1963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 lnSpcReduction="9999"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120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xx%</a:t>
            </a:r>
            <a:endParaRPr b="0" lang="en-US" sz="1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311760" y="3152160"/>
            <a:ext cx="8520120" cy="130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47500" lnSpcReduction="19999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hu" sz="1000" strike="noStrike" u="none">
                <a:solidFill>
                  <a:schemeClr val="lt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9FB2F1B-CEA3-4528-AF10-5AD40DA68FA8}" type="slidenum">
              <a:rPr b="0" lang="hu" sz="1000" strike="noStrike" u="none">
                <a:solidFill>
                  <a:schemeClr val="lt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sldNum" idx="3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hu" sz="1000" strike="noStrike" u="none">
                <a:solidFill>
                  <a:schemeClr val="lt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112657F-EFD2-4361-A0BC-AD7DB92E6B1A}" type="slidenum">
              <a:rPr b="0" lang="hu" sz="1000" strike="noStrike" u="none">
                <a:solidFill>
                  <a:schemeClr val="lt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311760" y="2151000"/>
            <a:ext cx="8520120" cy="84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p>
            <a:pPr indent="0">
              <a:buNone/>
            </a:pPr>
            <a:r>
              <a:rPr b="0" lang="en-US" sz="3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ldNum" idx="4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hu" sz="1000" strike="noStrike" u="none">
                <a:solidFill>
                  <a:schemeClr val="lt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E1AA743-3B1F-400B-BCD9-FE55BB4DB894}" type="slidenum">
              <a:rPr b="0" lang="hu" sz="1000" strike="noStrike" u="none">
                <a:solidFill>
                  <a:schemeClr val="lt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lnSpcReduction="9999"/>
          </a:bodyPr>
          <a:p>
            <a:pPr indent="0">
              <a:buNone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sldNum" idx="5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hu" sz="1000" strike="noStrike" u="none">
                <a:solidFill>
                  <a:schemeClr val="lt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23F8F19-7379-49E6-9A5D-E9510A1D61CA}" type="slidenum">
              <a:rPr b="0" lang="hu" sz="1000" strike="noStrike" u="none">
                <a:solidFill>
                  <a:schemeClr val="lt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_AND_TWO_COLUMNS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lnSpcReduction="9999"/>
          </a:bodyPr>
          <a:p>
            <a:pPr indent="0">
              <a:buNone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3999600" cy="34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4832280" y="1152360"/>
            <a:ext cx="3999600" cy="34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sldNum" idx="6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hu" sz="1000" strike="noStrike" u="none">
                <a:solidFill>
                  <a:schemeClr val="lt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9E15CAE-DC7C-403F-A125-41CA56801184}" type="slidenum">
              <a:rPr b="0" lang="hu" sz="1000" strike="noStrike" u="none">
                <a:solidFill>
                  <a:schemeClr val="lt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lnSpcReduction="9999"/>
          </a:bodyPr>
          <a:p>
            <a:pPr indent="0">
              <a:buNone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sldNum" idx="7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hu" sz="1000" strike="noStrike" u="none">
                <a:solidFill>
                  <a:schemeClr val="lt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A6BAD66-580A-469E-A59B-C66CB61EBE63}" type="slidenum">
              <a:rPr b="0" lang="hu" sz="1000" strike="noStrike" u="none">
                <a:solidFill>
                  <a:schemeClr val="lt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_COLUMN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311760" y="555480"/>
            <a:ext cx="2807640" cy="755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 fontScale="85000" lnSpcReduction="9999"/>
          </a:bodyPr>
          <a:p>
            <a:pPr indent="0">
              <a:buNone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311760" y="1389600"/>
            <a:ext cx="2807640" cy="3179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32500" lnSpcReduction="19999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sldNum" idx="8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hu" sz="1000" strike="noStrike" u="none">
                <a:solidFill>
                  <a:schemeClr val="lt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8255EEA-32A8-4D7B-96F0-81931EC3656D}" type="slidenum">
              <a:rPr b="0" lang="hu" sz="1000" strike="noStrike" u="none">
                <a:solidFill>
                  <a:schemeClr val="lt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IN_POI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90320" y="450000"/>
            <a:ext cx="6367320" cy="409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p>
            <a:pPr indent="0">
              <a:buNone/>
            </a:pPr>
            <a:r>
              <a:rPr b="0" lang="en-US" sz="4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sldNum" idx="9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hu" sz="1000" strike="noStrike" u="none">
                <a:solidFill>
                  <a:schemeClr val="lt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A51A2D6-093A-4809-81CE-C8EDBA7AEF9E}" type="slidenum">
              <a:rPr b="0" lang="hu" sz="1000" strike="noStrike" u="none">
                <a:solidFill>
                  <a:schemeClr val="lt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TITLE_AND_DESCRIPTION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36;p9"/>
          <p:cNvSpPr/>
          <p:nvPr/>
        </p:nvSpPr>
        <p:spPr>
          <a:xfrm>
            <a:off x="4572000" y="0"/>
            <a:ext cx="4571640" cy="5143320"/>
          </a:xfrm>
          <a:prstGeom prst="rect">
            <a:avLst/>
          </a:prstGeom>
          <a:solidFill>
            <a:schemeClr val="dk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265680" y="1233000"/>
            <a:ext cx="4044960" cy="148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>
              <a:buNone/>
            </a:pPr>
            <a:r>
              <a:rPr b="0" lang="en-US" sz="4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939560" y="724320"/>
            <a:ext cx="3836520" cy="369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 fontScale="85000" lnSpcReduction="9999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sldNum" idx="10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hu" sz="1000" strike="noStrike" u="none">
                <a:solidFill>
                  <a:schemeClr val="lt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3DDB7C2-BC5A-4D5B-8D57-D5907534494B}" type="slidenum">
              <a:rPr b="0" lang="hu" sz="1000" strike="noStrike" u="none">
                <a:solidFill>
                  <a:schemeClr val="lt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PTION_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body"/>
          </p:nvPr>
        </p:nvSpPr>
        <p:spPr>
          <a:xfrm>
            <a:off x="311760" y="4230720"/>
            <a:ext cx="5998320" cy="60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 fontScale="25000" lnSpcReduction="19999"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sldNum" idx="11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hu" sz="1000" strike="noStrike" u="none">
                <a:solidFill>
                  <a:schemeClr val="lt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8D74C93-67DF-45A7-89B7-7A60D52DA4CD}" type="slidenum">
              <a:rPr b="0" lang="hu" sz="1000" strike="noStrike" u="none">
                <a:solidFill>
                  <a:schemeClr val="lt2"/>
                </a:solidFill>
                <a:effectLst/>
                <a:uFillTx/>
                <a:latin typeface="Arial"/>
                <a:ea typeface="Arial"/>
              </a:rPr>
              <a:t>&lt;number&gt;</a:t>
            </a:fld>
            <a:endParaRPr b="0" lang="en-US" sz="1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5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5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hyperlink" Target="https://docs.google.com/spreadsheets/d/1WiWVuyAWmmIjS2AD-zfSvd1EOSQTrwXEqSLw4j5F-xc/edit?gid=50857362#gid=50857362" TargetMode="External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5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hyperlink" Target="http://draw.io" TargetMode="External"/><Relationship Id="rId3" Type="http://schemas.openxmlformats.org/officeDocument/2006/relationships/slideLayout" Target="../slideLayouts/slideLayout5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slideLayout" Target="../slideLayouts/slideLayout5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hu" sz="52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♔ Knightly ♕</a:t>
            </a:r>
            <a:endParaRPr b="0" lang="en-US" sz="5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311760" y="2595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lnSpcReduction="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hu" sz="2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Projekt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/>
          </p:nvPr>
        </p:nvSpPr>
        <p:spPr>
          <a:xfrm>
            <a:off x="311760" y="832320"/>
            <a:ext cx="8520120" cy="49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lnSpcReduction="9999"/>
          </a:bodyPr>
          <a:p>
            <a:pPr indent="0">
              <a:lnSpc>
                <a:spcPct val="115000"/>
              </a:lnSpc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hu" sz="1800" strike="noStrike" u="none">
                <a:solidFill>
                  <a:schemeClr val="lt2"/>
                </a:solidFill>
                <a:effectLst/>
                <a:uFillTx/>
                <a:latin typeface="Arial"/>
                <a:ea typeface="Arial"/>
              </a:rPr>
              <a:t>3 kisebb Rust projektből áll: UI, Szerver, Engine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Google Shape;61;p14"/>
          <p:cNvSpPr/>
          <p:nvPr/>
        </p:nvSpPr>
        <p:spPr>
          <a:xfrm>
            <a:off x="830160" y="1371240"/>
            <a:ext cx="2494080" cy="1006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hu" sz="1800" strike="noStrike" u="none">
                <a:solidFill>
                  <a:schemeClr val="lt2"/>
                </a:solidFill>
                <a:effectLst/>
                <a:uFillTx/>
                <a:latin typeface="Arial"/>
                <a:ea typeface="Arial"/>
              </a:rPr>
              <a:t>UI (Bence):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indent="-343080">
              <a:lnSpc>
                <a:spcPct val="100000"/>
              </a:lnSpc>
              <a:buClr>
                <a:srgbClr val="adadad"/>
              </a:buClr>
              <a:buFont typeface="Arial"/>
              <a:buChar char="-"/>
              <a:tabLst>
                <a:tab algn="l" pos="0"/>
              </a:tabLst>
            </a:pPr>
            <a:r>
              <a:rPr b="0" lang="hu" sz="1800" strike="noStrike" u="none">
                <a:solidFill>
                  <a:schemeClr val="lt2"/>
                </a:solidFill>
                <a:effectLst/>
                <a:uFillTx/>
                <a:latin typeface="Arial"/>
                <a:ea typeface="Arial"/>
              </a:rPr>
              <a:t>egui/eframe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indent="-343080">
              <a:lnSpc>
                <a:spcPct val="100000"/>
              </a:lnSpc>
              <a:buClr>
                <a:srgbClr val="adadad"/>
              </a:buClr>
              <a:buFont typeface="Arial"/>
              <a:buChar char="-"/>
              <a:tabLst>
                <a:tab algn="l" pos="0"/>
              </a:tabLst>
            </a:pPr>
            <a:r>
              <a:rPr b="0" lang="hu" sz="1800" strike="noStrike" u="none">
                <a:solidFill>
                  <a:schemeClr val="lt2"/>
                </a:solidFill>
                <a:effectLst/>
                <a:uFillTx/>
                <a:latin typeface="Arial"/>
                <a:ea typeface="Arial"/>
              </a:rPr>
              <a:t>tokio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Google Shape;62;p14"/>
          <p:cNvSpPr/>
          <p:nvPr/>
        </p:nvSpPr>
        <p:spPr>
          <a:xfrm>
            <a:off x="3324600" y="1371240"/>
            <a:ext cx="2494080" cy="155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hu" sz="1800" strike="noStrike" u="none">
                <a:solidFill>
                  <a:schemeClr val="lt2"/>
                </a:solidFill>
                <a:effectLst/>
                <a:uFillTx/>
                <a:latin typeface="Arial"/>
                <a:ea typeface="Arial"/>
              </a:rPr>
              <a:t>Szerver (Tamás):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indent="-343080">
              <a:lnSpc>
                <a:spcPct val="100000"/>
              </a:lnSpc>
              <a:buClr>
                <a:srgbClr val="adadad"/>
              </a:buClr>
              <a:buFont typeface="Arial"/>
              <a:buChar char="-"/>
              <a:tabLst>
                <a:tab algn="l" pos="0"/>
              </a:tabLst>
            </a:pPr>
            <a:r>
              <a:rPr b="0" lang="hu" sz="1800" strike="noStrike" u="none">
                <a:solidFill>
                  <a:schemeClr val="lt2"/>
                </a:solidFill>
                <a:effectLst/>
                <a:uFillTx/>
                <a:latin typeface="Arial"/>
                <a:ea typeface="Arial"/>
              </a:rPr>
              <a:t>tokio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indent="-343080">
              <a:lnSpc>
                <a:spcPct val="100000"/>
              </a:lnSpc>
              <a:buClr>
                <a:srgbClr val="adadad"/>
              </a:buClr>
              <a:buFont typeface="Arial"/>
              <a:buChar char="-"/>
              <a:tabLst>
                <a:tab algn="l" pos="0"/>
              </a:tabLst>
            </a:pPr>
            <a:r>
              <a:rPr b="0" lang="hu" sz="1800" strike="noStrike" u="none">
                <a:solidFill>
                  <a:schemeClr val="lt2"/>
                </a:solidFill>
                <a:effectLst/>
                <a:uFillTx/>
                <a:latin typeface="Arial"/>
                <a:ea typeface="Arial"/>
              </a:rPr>
              <a:t>tungstenite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indent="-343080">
              <a:lnSpc>
                <a:spcPct val="100000"/>
              </a:lnSpc>
              <a:buClr>
                <a:srgbClr val="adadad"/>
              </a:buClr>
              <a:buFont typeface="Arial"/>
              <a:buChar char="-"/>
              <a:tabLst>
                <a:tab algn="l" pos="0"/>
              </a:tabLst>
            </a:pPr>
            <a:r>
              <a:rPr b="0" lang="hu" sz="1800" strike="noStrike" u="none">
                <a:solidFill>
                  <a:schemeClr val="lt2"/>
                </a:solidFill>
                <a:effectLst/>
                <a:uFillTx/>
                <a:latin typeface="Arial"/>
                <a:ea typeface="Arial"/>
              </a:rPr>
              <a:t>serde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indent="-343080">
              <a:lnSpc>
                <a:spcPct val="100000"/>
              </a:lnSpc>
              <a:buClr>
                <a:srgbClr val="adadad"/>
              </a:buClr>
              <a:buFont typeface="Arial"/>
              <a:buChar char="-"/>
              <a:tabLst>
                <a:tab algn="l" pos="0"/>
              </a:tabLst>
            </a:pPr>
            <a:r>
              <a:rPr b="0" lang="hu" sz="1800" strike="noStrike" u="none">
                <a:solidFill>
                  <a:schemeClr val="lt2"/>
                </a:solidFill>
                <a:effectLst/>
                <a:uFillTx/>
                <a:latin typeface="Arial"/>
                <a:ea typeface="Arial"/>
              </a:rPr>
              <a:t>uuid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Google Shape;63;p14"/>
          <p:cNvSpPr/>
          <p:nvPr/>
        </p:nvSpPr>
        <p:spPr>
          <a:xfrm>
            <a:off x="5819400" y="1371240"/>
            <a:ext cx="2494080" cy="73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hu" sz="1800" strike="noStrike" u="none">
                <a:solidFill>
                  <a:schemeClr val="lt2"/>
                </a:solidFill>
                <a:effectLst/>
                <a:uFillTx/>
                <a:latin typeface="Arial"/>
                <a:ea typeface="Arial"/>
              </a:rPr>
              <a:t>Engine (Dávid):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indent="-343080">
              <a:lnSpc>
                <a:spcPct val="100000"/>
              </a:lnSpc>
              <a:buClr>
                <a:srgbClr val="adadad"/>
              </a:buClr>
              <a:buFont typeface="Arial"/>
              <a:buChar char="-"/>
              <a:tabLst>
                <a:tab algn="l" pos="0"/>
              </a:tabLst>
            </a:pPr>
            <a:r>
              <a:rPr b="0" lang="hu" sz="1800" strike="noStrike" u="none">
                <a:solidFill>
                  <a:schemeClr val="lt2"/>
                </a:solidFill>
                <a:effectLst/>
                <a:uFillTx/>
                <a:latin typeface="Arial"/>
                <a:ea typeface="Arial"/>
              </a:rPr>
              <a:t>once-cell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Google Shape;64;p14"/>
          <p:cNvSpPr/>
          <p:nvPr/>
        </p:nvSpPr>
        <p:spPr>
          <a:xfrm>
            <a:off x="311760" y="3097080"/>
            <a:ext cx="8520120" cy="73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hu" sz="1800" strike="noStrike" u="none">
                <a:solidFill>
                  <a:schemeClr val="lt2"/>
                </a:solidFill>
                <a:effectLst/>
                <a:uFillTx/>
                <a:latin typeface="Arial"/>
                <a:ea typeface="Arial"/>
              </a:rPr>
              <a:t>A projektek között WebSocketen keresztül JSON objektumokkal történik az adattovábbítás.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lnSpcReduction="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hu" sz="2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Munkafolyamat - Jira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9" name="Google Shape;70;p15" descr=""/>
          <p:cNvPicPr/>
          <p:nvPr/>
        </p:nvPicPr>
        <p:blipFill>
          <a:blip r:embed="rId1"/>
          <a:stretch/>
        </p:blipFill>
        <p:spPr>
          <a:xfrm>
            <a:off x="1739160" y="1017720"/>
            <a:ext cx="5665680" cy="2359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0" name="Google Shape;71;p15" descr=""/>
          <p:cNvPicPr/>
          <p:nvPr/>
        </p:nvPicPr>
        <p:blipFill>
          <a:blip r:embed="rId2"/>
          <a:stretch/>
        </p:blipFill>
        <p:spPr>
          <a:xfrm>
            <a:off x="547200" y="3461040"/>
            <a:ext cx="8048880" cy="12668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lnSpcReduction="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hu" sz="2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Munkafolyamat - Jira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2" name="Google Shape;77;p16" descr=""/>
          <p:cNvPicPr/>
          <p:nvPr/>
        </p:nvPicPr>
        <p:blipFill>
          <a:blip r:embed="rId1"/>
          <a:stretch/>
        </p:blipFill>
        <p:spPr>
          <a:xfrm>
            <a:off x="311760" y="1152360"/>
            <a:ext cx="3503160" cy="3739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3" name="Google Shape;78;p16" descr=""/>
          <p:cNvPicPr/>
          <p:nvPr/>
        </p:nvPicPr>
        <p:blipFill>
          <a:blip r:embed="rId2"/>
          <a:stretch/>
        </p:blipFill>
        <p:spPr>
          <a:xfrm>
            <a:off x="3983040" y="1590840"/>
            <a:ext cx="5023800" cy="1961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lnSpcReduction="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hu" sz="2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Munkafolyamat - Jira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5" name="Google Shape;84;p17" descr=""/>
          <p:cNvPicPr/>
          <p:nvPr/>
        </p:nvPicPr>
        <p:blipFill>
          <a:blip r:embed="rId1"/>
          <a:stretch/>
        </p:blipFill>
        <p:spPr>
          <a:xfrm>
            <a:off x="4235040" y="786240"/>
            <a:ext cx="4684680" cy="2483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6" name="Google Shape;85;p17" descr=""/>
          <p:cNvPicPr/>
          <p:nvPr/>
        </p:nvPicPr>
        <p:blipFill>
          <a:blip r:embed="rId2"/>
          <a:stretch/>
        </p:blipFill>
        <p:spPr>
          <a:xfrm>
            <a:off x="1203120" y="3459960"/>
            <a:ext cx="6737400" cy="1482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" name="Google Shape;86;p17"/>
          <p:cNvSpPr/>
          <p:nvPr/>
        </p:nvSpPr>
        <p:spPr>
          <a:xfrm>
            <a:off x="311760" y="1658520"/>
            <a:ext cx="3480120" cy="73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hu" sz="1800" strike="noStrike" u="none">
                <a:solidFill>
                  <a:schemeClr val="lt2"/>
                </a:solidFill>
                <a:effectLst/>
                <a:uFillTx/>
                <a:latin typeface="Arial"/>
                <a:ea typeface="Arial"/>
              </a:rPr>
              <a:t>Saját sablonokkal dokumentált meetingek (pl. code review)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lnSpcReduction="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hu" sz="2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Munkafolyamat - GitHub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hu" sz="1800" strike="noStrike" u="none">
                <a:solidFill>
                  <a:schemeClr val="lt2"/>
                </a:solidFill>
                <a:effectLst/>
                <a:uFillTx/>
                <a:latin typeface="Arial"/>
                <a:ea typeface="Arial"/>
              </a:rPr>
              <a:t>Branch létrehozás: Projekt/Feladat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hu" sz="1800" strike="noStrike" u="none">
                <a:solidFill>
                  <a:schemeClr val="lt2"/>
                </a:solidFill>
                <a:effectLst/>
                <a:uFillTx/>
                <a:latin typeface="Arial"/>
                <a:ea typeface="Arial"/>
              </a:rPr>
              <a:t>Például: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0" name="Google Shape;93;p18" descr=""/>
          <p:cNvPicPr/>
          <p:nvPr/>
        </p:nvPicPr>
        <p:blipFill>
          <a:blip r:embed="rId1"/>
          <a:stretch/>
        </p:blipFill>
        <p:spPr>
          <a:xfrm>
            <a:off x="1392840" y="1605600"/>
            <a:ext cx="6571800" cy="31280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lnSpcReduction="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hu" sz="2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Munkafolyamat - GitHub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2" name="Google Shape;99;p19" descr=""/>
          <p:cNvPicPr/>
          <p:nvPr/>
        </p:nvPicPr>
        <p:blipFill>
          <a:blip r:embed="rId1"/>
          <a:stretch/>
        </p:blipFill>
        <p:spPr>
          <a:xfrm>
            <a:off x="1243800" y="1017720"/>
            <a:ext cx="6655680" cy="1847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3" name="Google Shape;100;p19" descr=""/>
          <p:cNvPicPr/>
          <p:nvPr/>
        </p:nvPicPr>
        <p:blipFill>
          <a:blip r:embed="rId2"/>
          <a:stretch/>
        </p:blipFill>
        <p:spPr>
          <a:xfrm>
            <a:off x="663120" y="3011040"/>
            <a:ext cx="7817400" cy="15980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lnSpcReduction="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hu" sz="2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Munkafolyamat - GitHub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5" name="Google Shape;106;p20" descr="">
            <a:hlinkClick r:id="rId1"/>
          </p:cNvPr>
          <p:cNvPicPr/>
          <p:nvPr/>
        </p:nvPicPr>
        <p:blipFill>
          <a:blip r:embed="rId2"/>
          <a:stretch/>
        </p:blipFill>
        <p:spPr>
          <a:xfrm>
            <a:off x="311760" y="985320"/>
            <a:ext cx="8480160" cy="3895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311760" y="31392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lnSpcReduction="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hu" sz="2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Dokumentáció (rendszerterv)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Google Shape;112;p21"/>
          <p:cNvSpPr/>
          <p:nvPr/>
        </p:nvSpPr>
        <p:spPr>
          <a:xfrm>
            <a:off x="5039280" y="780120"/>
            <a:ext cx="3235320" cy="4015440"/>
          </a:xfrm>
          <a:prstGeom prst="rect">
            <a:avLst/>
          </a:prstGeom>
          <a:solidFill>
            <a:schemeClr val="lt2"/>
          </a:solidFill>
          <a:ln w="9525">
            <a:solidFill>
              <a:srgbClr val="30303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8" name="Google Shape;113;p21" descr=""/>
          <p:cNvPicPr/>
          <p:nvPr/>
        </p:nvPicPr>
        <p:blipFill>
          <a:blip r:embed="rId1"/>
          <a:stretch/>
        </p:blipFill>
        <p:spPr>
          <a:xfrm>
            <a:off x="5124240" y="886320"/>
            <a:ext cx="3065760" cy="3803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9" name="Google Shape;114;p21"/>
          <p:cNvSpPr/>
          <p:nvPr/>
        </p:nvSpPr>
        <p:spPr>
          <a:xfrm>
            <a:off x="370800" y="2163600"/>
            <a:ext cx="4448160" cy="73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hu" sz="1800" strike="noStrike" u="sng">
                <a:solidFill>
                  <a:schemeClr val="hlink"/>
                </a:solidFill>
                <a:effectLst/>
                <a:uFillTx/>
                <a:latin typeface="Arial"/>
                <a:ea typeface="Arial"/>
                <a:hlinkClick r:id="rId2"/>
              </a:rPr>
              <a:t>Draw.io</a:t>
            </a:r>
            <a:r>
              <a:rPr b="0" lang="hu" sz="1800" strike="noStrike" u="none">
                <a:solidFill>
                  <a:schemeClr val="lt2"/>
                </a:solidFill>
                <a:effectLst/>
                <a:uFillTx/>
                <a:latin typeface="Arial"/>
                <a:ea typeface="Arial"/>
              </a:rPr>
              <a:t>-ban létrehozott folyamatábra, verziókezelhető (.xml)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311760" y="282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lnSpcReduction="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hu" sz="2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UI (tervezet)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1" name="Google Shape;120;p22" descr=""/>
          <p:cNvPicPr/>
          <p:nvPr/>
        </p:nvPicPr>
        <p:blipFill>
          <a:blip r:embed="rId1"/>
          <a:stretch/>
        </p:blipFill>
        <p:spPr>
          <a:xfrm>
            <a:off x="1331280" y="855720"/>
            <a:ext cx="2754000" cy="20635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2" name="Google Shape;121;p22" descr=""/>
          <p:cNvPicPr/>
          <p:nvPr/>
        </p:nvPicPr>
        <p:blipFill>
          <a:blip r:embed="rId2"/>
          <a:stretch/>
        </p:blipFill>
        <p:spPr>
          <a:xfrm>
            <a:off x="2742840" y="3017160"/>
            <a:ext cx="3657960" cy="2056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3" name="Google Shape;122;p22" descr=""/>
          <p:cNvPicPr/>
          <p:nvPr/>
        </p:nvPicPr>
        <p:blipFill>
          <a:blip r:embed="rId3"/>
          <a:stretch/>
        </p:blipFill>
        <p:spPr>
          <a:xfrm>
            <a:off x="5017320" y="862560"/>
            <a:ext cx="3136680" cy="2056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lnSpcReduction="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hu" sz="28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AI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8520120" cy="2245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2500" lnSpcReduction="9999"/>
          </a:bodyPr>
          <a:p>
            <a:pPr marL="457200" indent="-343080">
              <a:lnSpc>
                <a:spcPct val="115000"/>
              </a:lnSpc>
              <a:buClr>
                <a:srgbClr val="adadad"/>
              </a:buClr>
              <a:buFont typeface="Arial"/>
              <a:buChar char="-"/>
            </a:pPr>
            <a:r>
              <a:rPr b="0" lang="hu" sz="1800" strike="noStrike" u="none">
                <a:solidFill>
                  <a:schemeClr val="lt2"/>
                </a:solidFill>
                <a:effectLst/>
                <a:uFillTx/>
                <a:latin typeface="Arial"/>
                <a:ea typeface="Arial"/>
              </a:rPr>
              <a:t>Workflow-hoz: Grok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adadad"/>
              </a:buClr>
              <a:buFont typeface="Arial"/>
              <a:buChar char="-"/>
            </a:pPr>
            <a:r>
              <a:rPr b="0" lang="hu" sz="1800" strike="noStrike" u="none">
                <a:solidFill>
                  <a:schemeClr val="lt2"/>
                </a:solidFill>
                <a:effectLst/>
                <a:uFillTx/>
                <a:latin typeface="Arial"/>
                <a:ea typeface="Arial"/>
              </a:rPr>
              <a:t>Rust kódhoz: DeepSeek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adadad"/>
              </a:buClr>
              <a:buFont typeface="Arial"/>
              <a:buChar char="-"/>
            </a:pPr>
            <a:r>
              <a:rPr b="0" lang="hu" sz="1800" strike="noStrike" u="none">
                <a:solidFill>
                  <a:schemeClr val="lt2"/>
                </a:solidFill>
                <a:effectLst/>
                <a:uFillTx/>
                <a:latin typeface="Arial"/>
                <a:ea typeface="Arial"/>
              </a:rPr>
              <a:t>Átlalános kérdésekhez: ChatGPT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hu" sz="1800" strike="noStrike" u="none">
                <a:solidFill>
                  <a:schemeClr val="lt2"/>
                </a:solidFill>
                <a:effectLst/>
                <a:uFillTx/>
                <a:latin typeface="Arial"/>
                <a:ea typeface="Arial"/>
              </a:rPr>
              <a:t>Architektúrához tanács kérésére, felhasználtuk az ötletét, kisebb módosításokkal.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hu" sz="1800" strike="noStrike" u="none">
                <a:solidFill>
                  <a:schemeClr val="lt2"/>
                </a:solidFill>
                <a:effectLst/>
                <a:uFillTx/>
                <a:latin typeface="Arial"/>
                <a:ea typeface="Arial"/>
              </a:rPr>
              <a:t>pl.: WebSocketen érkező eventek kezelése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hu" sz="1800" strike="noStrike" u="none">
                <a:solidFill>
                  <a:schemeClr val="lt2"/>
                </a:solidFill>
                <a:effectLst/>
                <a:uFillTx/>
                <a:latin typeface="Arial"/>
                <a:ea typeface="Arial"/>
              </a:rPr>
              <a:t>Nagyobb hibák esetén/koncepciók elmagyarázásához is használtuk őket.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</TotalTime>
  <Application>LibreOffice/25.8.3.2$Linux_X86_64 LibreOffice_project/580$Build-2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2025-11-17T12:21:14Z</dcterms:modified>
  <cp:revision>1</cp:revision>
  <dc:subject/>
  <dc:title/>
</cp:coreProperties>
</file>